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9" r:id="rId12"/>
    <p:sldId id="278" r:id="rId13"/>
    <p:sldId id="280" r:id="rId14"/>
    <p:sldId id="263" r:id="rId15"/>
    <p:sldId id="282" r:id="rId16"/>
    <p:sldId id="281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40567"/>
            <a:ext cx="103632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64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53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92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899833"/>
            <a:ext cx="5386917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046817"/>
            <a:ext cx="5389033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899833"/>
            <a:ext cx="5389033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3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2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450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364067"/>
            <a:ext cx="6815667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913467"/>
            <a:ext cx="4011084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9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817033"/>
            <a:ext cx="73152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7156451"/>
            <a:ext cx="73152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25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539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66185"/>
            <a:ext cx="274320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66185"/>
            <a:ext cx="802640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2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9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1371" r="1612" b="3121"/>
          <a:stretch>
            <a:fillRect/>
          </a:stretch>
        </p:blipFill>
        <p:spPr>
          <a:xfrm>
            <a:off x="0" y="0"/>
            <a:ext cx="12192000" cy="67911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047F5D-8488-5EE9-8A3F-A81DD6806C9D}"/>
              </a:ext>
            </a:extLst>
          </p:cNvPr>
          <p:cNvSpPr/>
          <p:nvPr/>
        </p:nvSpPr>
        <p:spPr>
          <a:xfrm>
            <a:off x="0" y="0"/>
            <a:ext cx="146304" cy="6791114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E0EDF-69A3-43FC-E39D-0BC9709A9DD8}"/>
              </a:ext>
            </a:extLst>
          </p:cNvPr>
          <p:cNvSpPr txBox="1"/>
          <p:nvPr/>
        </p:nvSpPr>
        <p:spPr>
          <a:xfrm>
            <a:off x="-725621" y="5675848"/>
            <a:ext cx="1146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masis MT Pro Medium" panose="02040604050005020304" pitchFamily="18" charset="0"/>
              </a:rPr>
              <a:t>|  CMS: 516900  |  ME-16A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9D5158-2582-0F86-BAAF-6A9D61E70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95" y="-1"/>
            <a:ext cx="4950106" cy="17787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A9B9C4-64AF-7026-4A76-E32386077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613" y="1528750"/>
            <a:ext cx="250011" cy="2500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6C45F9A-68BB-4B68-A9F0-FEA6F24FAFAB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5"/>
            <a:ext cx="10972800" cy="62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467" b="1" dirty="0">
                <a:solidFill>
                  <a:srgbClr val="FFFFFF"/>
                </a:solidFill>
                <a:latin typeface="Calibri"/>
              </a:rPr>
              <a:t>Project</a:t>
            </a:r>
            <a:r>
              <a:rPr sz="3467" b="1" dirty="0">
                <a:solidFill>
                  <a:srgbClr val="FFFFFF"/>
                </a:solidFill>
                <a:latin typeface="Calibri"/>
              </a:rPr>
              <a:t>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14528" y="154838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79" y="135331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79" y="191414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Why interpolation matters in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840" y="128016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339840" y="128016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388608" y="154838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1360" y="135331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Experimental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360" y="191414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Stress-strain dataset of copper alloy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2128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365760" y="262128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14528" y="288950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79" y="269443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Mathematical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79" y="325526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Lagrange, Newton, Linear, Cubic Spline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9840" y="262128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6339840" y="262128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388608" y="288950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1360" y="269443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MATLAB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1360" y="325526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Code walkthrough for all 4 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6240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ectangle 25"/>
          <p:cNvSpPr/>
          <p:nvPr/>
        </p:nvSpPr>
        <p:spPr>
          <a:xfrm>
            <a:off x="365760" y="396240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414528" y="423062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79" y="403555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Results &amp;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79" y="459638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Interpolated values at query 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39840" y="396240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30"/>
          <p:cNvSpPr/>
          <p:nvPr/>
        </p:nvSpPr>
        <p:spPr>
          <a:xfrm>
            <a:off x="6339840" y="396240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6388608" y="423062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1360" y="403555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Error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1360" y="459638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Absolute differences vs. Spline reference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0352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ectangle 35"/>
          <p:cNvSpPr/>
          <p:nvPr/>
        </p:nvSpPr>
        <p:spPr>
          <a:xfrm>
            <a:off x="365760" y="530352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414528" y="557174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79" y="537667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Plots &amp; Discussion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79" y="5937504"/>
            <a:ext cx="4632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55657A"/>
                </a:solidFill>
                <a:latin typeface="Calibri"/>
              </a:rPr>
              <a:t>6 figures</a:t>
            </a:r>
            <a:r>
              <a:rPr lang="en-US" sz="1600" dirty="0">
                <a:solidFill>
                  <a:srgbClr val="55657A"/>
                </a:solidFill>
                <a:latin typeface="Calibri"/>
              </a:rPr>
              <a:t>: </a:t>
            </a:r>
            <a:r>
              <a:rPr sz="1600" dirty="0">
                <a:solidFill>
                  <a:srgbClr val="55657A"/>
                </a:solidFill>
                <a:latin typeface="Calibri"/>
              </a:rPr>
              <a:t>individual + combined overlays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9840" y="5303520"/>
            <a:ext cx="548640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ectangle 40"/>
          <p:cNvSpPr/>
          <p:nvPr/>
        </p:nvSpPr>
        <p:spPr>
          <a:xfrm>
            <a:off x="6339840" y="5303520"/>
            <a:ext cx="633984" cy="1158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6388608" y="5571745"/>
            <a:ext cx="536448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33" b="1">
                <a:solidFill>
                  <a:srgbClr val="E8A81B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1360" y="5376672"/>
            <a:ext cx="463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1B3E"/>
                </a:solidFill>
                <a:latin typeface="Calibri"/>
              </a:rPr>
              <a:t>Conclusions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1360" y="5937504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55657A"/>
                </a:solidFill>
                <a:latin typeface="Calibri"/>
              </a:rPr>
              <a:t>Key findings and best method for engineering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269FAC7-DBD5-FA56-6C3B-020427A2D8FB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5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" y="115824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37DCF2"/>
                </a:solidFill>
                <a:latin typeface="Roboto Flex"/>
              </a:rPr>
              <a:t>What is Interpolation?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" y="1645920"/>
            <a:ext cx="11338560" cy="625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33" dirty="0">
                <a:solidFill>
                  <a:schemeClr val="bg1"/>
                </a:solidFill>
                <a:latin typeface="Calibri"/>
              </a:rPr>
              <a:t>Interpolation estimates unknown values between known discrete data points. In engineering, experiments produce data at fixed measurement points</a:t>
            </a:r>
            <a:r>
              <a:rPr lang="en-US" sz="1733" dirty="0">
                <a:solidFill>
                  <a:schemeClr val="bg1"/>
                </a:solidFill>
                <a:latin typeface="Calibri"/>
              </a:rPr>
              <a:t>, </a:t>
            </a:r>
            <a:r>
              <a:rPr sz="1733" dirty="0">
                <a:solidFill>
                  <a:schemeClr val="bg1"/>
                </a:solidFill>
                <a:latin typeface="Calibri"/>
              </a:rPr>
              <a:t>interpolation bridges the gaps to provide continuous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" y="2535936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7DCF2"/>
                </a:solidFill>
                <a:latin typeface="Roboto Flex"/>
              </a:rPr>
              <a:t>Project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" y="3048000"/>
            <a:ext cx="2743200" cy="2097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48639" y="3486912"/>
            <a:ext cx="24993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dirty="0">
                <a:solidFill>
                  <a:srgbClr val="1C1C2C"/>
                </a:solidFill>
                <a:latin typeface="Calibri"/>
              </a:rPr>
              <a:t>Implement from first principles using basis polynomials</a:t>
            </a:r>
            <a:r>
              <a:rPr lang="en-US" sz="2000" dirty="0">
                <a:solidFill>
                  <a:srgbClr val="1C1C2C"/>
                </a:solidFill>
                <a:latin typeface="Calibri"/>
              </a:rPr>
              <a:t>.</a:t>
            </a:r>
            <a:endParaRPr sz="2000" dirty="0">
              <a:solidFill>
                <a:srgbClr val="1C1C2C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28416" y="3048000"/>
            <a:ext cx="2743200" cy="2097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3328416" y="3048000"/>
            <a:ext cx="274320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304030" y="3072385"/>
            <a:ext cx="390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8A81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641" y="3050710"/>
            <a:ext cx="2499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Newton Divided 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0337" y="3486912"/>
            <a:ext cx="24993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dirty="0">
                <a:solidFill>
                  <a:srgbClr val="1C1C2C"/>
                </a:solidFill>
                <a:latin typeface="Calibri"/>
              </a:rPr>
              <a:t>Build full divided-difference table, display Newton form</a:t>
            </a:r>
            <a:r>
              <a:rPr lang="en-US" sz="2000" dirty="0">
                <a:solidFill>
                  <a:srgbClr val="1C1C2C"/>
                </a:solidFill>
                <a:latin typeface="Calibri"/>
              </a:rPr>
              <a:t>.</a:t>
            </a:r>
            <a:endParaRPr sz="2000" dirty="0">
              <a:solidFill>
                <a:srgbClr val="1C1C2C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30111" y="3048000"/>
            <a:ext cx="2743200" cy="2097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6230111" y="3048000"/>
            <a:ext cx="274320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245859" y="3072385"/>
            <a:ext cx="390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8A81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066289"/>
            <a:ext cx="2499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MATLAB interp1 – Linear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1" y="348691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>
                <a:solidFill>
                  <a:srgbClr val="1C1C2C"/>
                </a:solidFill>
                <a:latin typeface="Calibri"/>
              </a:rPr>
              <a:t>Apply piecewise linear interpolation</a:t>
            </a:r>
            <a:r>
              <a:rPr lang="en-US" dirty="0">
                <a:solidFill>
                  <a:srgbClr val="1C1C2C"/>
                </a:solidFill>
                <a:latin typeface="Calibri"/>
              </a:rPr>
              <a:t> </a:t>
            </a:r>
            <a:r>
              <a:rPr dirty="0">
                <a:solidFill>
                  <a:srgbClr val="1C1C2C"/>
                </a:solidFill>
                <a:latin typeface="Calibri"/>
              </a:rPr>
              <a:t>via MATLAB built-in</a:t>
            </a:r>
            <a:r>
              <a:rPr lang="en-US" dirty="0">
                <a:solidFill>
                  <a:srgbClr val="1C1C2C"/>
                </a:solidFill>
                <a:latin typeface="Calibri"/>
              </a:rPr>
              <a:t> Commands.</a:t>
            </a:r>
            <a:endParaRPr dirty="0">
              <a:solidFill>
                <a:srgbClr val="1C1C2C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31807" y="3048000"/>
            <a:ext cx="2743200" cy="2097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9131807" y="3048000"/>
            <a:ext cx="274320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9152636" y="3072385"/>
            <a:ext cx="390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81B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3043490"/>
            <a:ext cx="2499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Cubic Spline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7" y="3486912"/>
            <a:ext cx="2499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>
                <a:solidFill>
                  <a:srgbClr val="1C1C2C"/>
                </a:solidFill>
                <a:latin typeface="Calibri"/>
              </a:rPr>
              <a:t>Fit smooth C²-continuous spline using MATLAB interp1</a:t>
            </a:r>
            <a:r>
              <a:rPr lang="en-US" dirty="0">
                <a:solidFill>
                  <a:srgbClr val="1C1C2C"/>
                </a:solidFill>
                <a:latin typeface="Calibri"/>
              </a:rPr>
              <a:t>.</a:t>
            </a:r>
            <a:endParaRPr dirty="0">
              <a:solidFill>
                <a:srgbClr val="1C1C2C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382C47-858E-8753-A966-CEBD86E588A1}"/>
              </a:ext>
            </a:extLst>
          </p:cNvPr>
          <p:cNvSpPr/>
          <p:nvPr/>
        </p:nvSpPr>
        <p:spPr>
          <a:xfrm>
            <a:off x="424941" y="3039033"/>
            <a:ext cx="274320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26720" y="3072385"/>
            <a:ext cx="390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8A81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713" y="3019932"/>
            <a:ext cx="2499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Lagrange Interpolation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60721B-ECC3-B011-D8D6-9B8C5EA82139}"/>
              </a:ext>
            </a:extLst>
          </p:cNvPr>
          <p:cNvSpPr txBox="1"/>
          <p:nvPr/>
        </p:nvSpPr>
        <p:spPr>
          <a:xfrm>
            <a:off x="424941" y="5300331"/>
            <a:ext cx="632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8A81B"/>
                </a:solidFill>
                <a:latin typeface="Calibri"/>
              </a:rPr>
              <a:t>0</a:t>
            </a:r>
            <a:r>
              <a:rPr lang="en-US" sz="2400" b="1" dirty="0">
                <a:solidFill>
                  <a:srgbClr val="E8A81B"/>
                </a:solidFill>
                <a:latin typeface="Calibri"/>
              </a:rPr>
              <a:t>5</a:t>
            </a:r>
            <a:endParaRPr sz="2400" b="1" dirty="0">
              <a:solidFill>
                <a:srgbClr val="E8A81B"/>
              </a:solidFill>
              <a:latin typeface="Calibri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643ED5-3E14-F8F0-4D2D-AB9276FB056A}"/>
              </a:ext>
            </a:extLst>
          </p:cNvPr>
          <p:cNvGrpSpPr/>
          <p:nvPr/>
        </p:nvGrpSpPr>
        <p:grpSpPr>
          <a:xfrm>
            <a:off x="438787" y="5295839"/>
            <a:ext cx="11448286" cy="1103740"/>
            <a:chOff x="292860" y="5287435"/>
            <a:chExt cx="11582146" cy="110374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F8157FA-80B7-B913-336D-D0F358BAE2E4}"/>
                </a:ext>
              </a:extLst>
            </p:cNvPr>
            <p:cNvSpPr/>
            <p:nvPr/>
          </p:nvSpPr>
          <p:spPr>
            <a:xfrm>
              <a:off x="426719" y="5287435"/>
              <a:ext cx="11448287" cy="11037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24941" y="5289039"/>
              <a:ext cx="11450065" cy="507684"/>
            </a:xfrm>
            <a:prstGeom prst="rect">
              <a:avLst/>
            </a:prstGeom>
            <a:solidFill>
              <a:srgbClr val="1A4F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Round Same Side Corner Rectangle 6">
              <a:extLst>
                <a:ext uri="{FF2B5EF4-FFF2-40B4-BE49-F238E27FC236}">
                  <a16:creationId xmlns:a16="http://schemas.microsoft.com/office/drawing/2014/main" id="{0C246E80-96B3-3C0C-6E78-28B0B18D90FA}"/>
                </a:ext>
              </a:extLst>
            </p:cNvPr>
            <p:cNvSpPr/>
            <p:nvPr/>
          </p:nvSpPr>
          <p:spPr>
            <a:xfrm rot="16200000">
              <a:off x="-192080" y="5772375"/>
              <a:ext cx="1103740" cy="13385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E0D37C0-F471-AEA8-E950-767A82C84B63}"/>
              </a:ext>
            </a:extLst>
          </p:cNvPr>
          <p:cNvSpPr txBox="1"/>
          <p:nvPr/>
        </p:nvSpPr>
        <p:spPr>
          <a:xfrm>
            <a:off x="944384" y="5251567"/>
            <a:ext cx="3755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Graphs &amp; Comparison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9D2CC5-9B97-A1EB-5700-B55322E513FD}"/>
              </a:ext>
            </a:extLst>
          </p:cNvPr>
          <p:cNvSpPr txBox="1"/>
          <p:nvPr/>
        </p:nvSpPr>
        <p:spPr>
          <a:xfrm>
            <a:off x="621792" y="5968779"/>
            <a:ext cx="9392251" cy="3539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latin typeface="Roboto Flex"/>
              </a:rPr>
              <a:t>Compare all methods through </a:t>
            </a:r>
            <a:r>
              <a:rPr sz="2400" b="1" dirty="0">
                <a:solidFill>
                  <a:schemeClr val="accent2"/>
                </a:solidFill>
                <a:latin typeface="Roboto Flex"/>
              </a:rPr>
              <a:t>tables, plots, and overlay graphs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150D9DEE-7740-DA2F-5849-15621FE65567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214964" y="201168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Calibri"/>
              </a:rPr>
              <a:t>Experimental Data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 (Copper Alloy Stress-Strain)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080899"/>
            <a:ext cx="11338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>
                <a:solidFill>
                  <a:schemeClr val="bg1"/>
                </a:solidFill>
                <a:latin typeface="Calibri"/>
              </a:rPr>
              <a:t>9 data points collected from uniaxial tensile testing of a copper alloy, covering elastic and early plastic deformation regimes.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" y="1853184"/>
            <a:ext cx="914400" cy="426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487679" y="1914144"/>
            <a:ext cx="79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1120" y="1853184"/>
            <a:ext cx="1341120" cy="426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1402080" y="1914144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Strain ε (-)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240" y="1853184"/>
            <a:ext cx="1463040" cy="426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2743201" y="1914145"/>
            <a:ext cx="1341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Stress σ (MPa)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20" y="2279904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87679" y="2353056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1120" y="2279904"/>
            <a:ext cx="1341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402080" y="2353056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2240" y="2279904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2743201" y="2353056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20" y="2682240"/>
            <a:ext cx="91440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487679" y="2755392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1120" y="2682240"/>
            <a:ext cx="134112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1402080" y="2755392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82240" y="2682240"/>
            <a:ext cx="146304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2743201" y="2755392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720" y="3084576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87679" y="3157728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1120" y="3084576"/>
            <a:ext cx="1341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1402080" y="3157728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2240" y="3084576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2743201" y="3157728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110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720" y="3486912"/>
            <a:ext cx="91440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487679" y="3560064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41120" y="3486912"/>
            <a:ext cx="134112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1402080" y="3560064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82240" y="3486912"/>
            <a:ext cx="146304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2743201" y="3560064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160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20" y="3889248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487679" y="3962400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41120" y="3889248"/>
            <a:ext cx="1341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1402080" y="3962400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1C1C2C"/>
                </a:solidFill>
                <a:latin typeface="Calibri"/>
              </a:rPr>
              <a:t>0.12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82240" y="3889248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2743201" y="3962400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720" y="4291584"/>
            <a:ext cx="91440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487679" y="4364736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41120" y="4291584"/>
            <a:ext cx="134112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1402080" y="4364736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1C1C2C"/>
                </a:solidFill>
                <a:latin typeface="Calibri"/>
              </a:rPr>
              <a:t>0.16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82240" y="4291584"/>
            <a:ext cx="146304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2743201" y="4364736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230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720" y="4693920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TextBox 48"/>
          <p:cNvSpPr txBox="1"/>
          <p:nvPr/>
        </p:nvSpPr>
        <p:spPr>
          <a:xfrm>
            <a:off x="487679" y="4767072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41120" y="4693920"/>
            <a:ext cx="1341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1402080" y="4767072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82240" y="4693920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TextBox 52"/>
          <p:cNvSpPr txBox="1"/>
          <p:nvPr/>
        </p:nvSpPr>
        <p:spPr>
          <a:xfrm>
            <a:off x="2743201" y="4767072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250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6720" y="5096255"/>
            <a:ext cx="91440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TextBox 54"/>
          <p:cNvSpPr txBox="1"/>
          <p:nvPr/>
        </p:nvSpPr>
        <p:spPr>
          <a:xfrm>
            <a:off x="487679" y="5169407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41120" y="5096255"/>
            <a:ext cx="134112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TextBox 56"/>
          <p:cNvSpPr txBox="1"/>
          <p:nvPr/>
        </p:nvSpPr>
        <p:spPr>
          <a:xfrm>
            <a:off x="1402080" y="5169407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82240" y="5096255"/>
            <a:ext cx="1463040" cy="402336"/>
          </a:xfrm>
          <a:prstGeom prst="rect">
            <a:avLst/>
          </a:prstGeom>
          <a:solidFill>
            <a:srgbClr val="EBF1F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9" name="TextBox 58"/>
          <p:cNvSpPr txBox="1"/>
          <p:nvPr/>
        </p:nvSpPr>
        <p:spPr>
          <a:xfrm>
            <a:off x="2743201" y="5169407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265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720" y="549859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1" name="TextBox 60"/>
          <p:cNvSpPr txBox="1"/>
          <p:nvPr/>
        </p:nvSpPr>
        <p:spPr>
          <a:xfrm>
            <a:off x="487679" y="5571743"/>
            <a:ext cx="79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P9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41120" y="5498592"/>
            <a:ext cx="1341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3" name="TextBox 62"/>
          <p:cNvSpPr txBox="1"/>
          <p:nvPr/>
        </p:nvSpPr>
        <p:spPr>
          <a:xfrm>
            <a:off x="1402080" y="5571743"/>
            <a:ext cx="121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0.30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82240" y="5498592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5" name="TextBox 64"/>
          <p:cNvSpPr txBox="1"/>
          <p:nvPr/>
        </p:nvSpPr>
        <p:spPr>
          <a:xfrm>
            <a:off x="2743201" y="5571743"/>
            <a:ext cx="1341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C1C2C"/>
                </a:solidFill>
                <a:latin typeface="Calibri"/>
              </a:rPr>
              <a:t>275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7F12856-8F00-4133-54DB-55C5EF35EB52}"/>
              </a:ext>
            </a:extLst>
          </p:cNvPr>
          <p:cNvGrpSpPr/>
          <p:nvPr/>
        </p:nvGrpSpPr>
        <p:grpSpPr>
          <a:xfrm>
            <a:off x="4389120" y="2389632"/>
            <a:ext cx="7376160" cy="707136"/>
            <a:chOff x="4389120" y="2389632"/>
            <a:chExt cx="7376160" cy="707136"/>
          </a:xfrm>
        </p:grpSpPr>
        <p:sp>
          <p:nvSpPr>
            <p:cNvPr id="67" name="Rectangle 66"/>
            <p:cNvSpPr/>
            <p:nvPr/>
          </p:nvSpPr>
          <p:spPr>
            <a:xfrm>
              <a:off x="4389120" y="2389632"/>
              <a:ext cx="7376160" cy="70713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89120" y="2389632"/>
              <a:ext cx="73152" cy="707136"/>
            </a:xfrm>
            <a:prstGeom prst="rect">
              <a:avLst/>
            </a:prstGeom>
            <a:solidFill>
              <a:srgbClr val="E8A81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4462272" y="2392199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Elastic Region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59808" y="2731008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Steep rise from ε = 0 to 0.05 (slope ~ </a:t>
            </a:r>
            <a:r>
              <a:rPr lang="en-US" dirty="0">
                <a:solidFill>
                  <a:srgbClr val="1C1C2C"/>
                </a:solidFill>
                <a:latin typeface="Calibri"/>
              </a:rPr>
              <a:t>2200</a:t>
            </a:r>
            <a:r>
              <a:rPr dirty="0">
                <a:solidFill>
                  <a:srgbClr val="1C1C2C"/>
                </a:solidFill>
                <a:latin typeface="Calibri"/>
              </a:rPr>
              <a:t> MPa)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3194304"/>
            <a:ext cx="7376160" cy="707136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Rectangle 71"/>
          <p:cNvSpPr/>
          <p:nvPr/>
        </p:nvSpPr>
        <p:spPr>
          <a:xfrm>
            <a:off x="4389120" y="3194304"/>
            <a:ext cx="73152" cy="707136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3" name="TextBox 72"/>
          <p:cNvSpPr txBox="1"/>
          <p:nvPr/>
        </p:nvSpPr>
        <p:spPr>
          <a:xfrm>
            <a:off x="4462272" y="3214815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Strain Hardening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59808" y="3535680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Gradual plateau from ε = 0.10 to 0.30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89120" y="3998976"/>
            <a:ext cx="7376160" cy="707136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6" name="Rectangle 75"/>
          <p:cNvSpPr/>
          <p:nvPr/>
        </p:nvSpPr>
        <p:spPr>
          <a:xfrm>
            <a:off x="4389120" y="3998976"/>
            <a:ext cx="73152" cy="707136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7" name="TextBox 76"/>
          <p:cNvSpPr txBox="1"/>
          <p:nvPr/>
        </p:nvSpPr>
        <p:spPr>
          <a:xfrm>
            <a:off x="4424733" y="3971662"/>
            <a:ext cx="3342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FCC Metal Behavior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9808" y="4340352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Decreasing tangent modulus — typical of copper alloys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0" y="4803648"/>
            <a:ext cx="7376160" cy="707136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Rectangle 79"/>
          <p:cNvSpPr/>
          <p:nvPr/>
        </p:nvSpPr>
        <p:spPr>
          <a:xfrm>
            <a:off x="4389120" y="4803648"/>
            <a:ext cx="73152" cy="707136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1" name="TextBox 80"/>
          <p:cNvSpPr txBox="1"/>
          <p:nvPr/>
        </p:nvSpPr>
        <p:spPr>
          <a:xfrm>
            <a:off x="4425696" y="4808781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Data Range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59808" y="5145024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Strain: 0.00 – 0.30 | Stress: 0 – 275 MPa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89120" y="5608320"/>
            <a:ext cx="7376160" cy="707136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4" name="Rectangle 83"/>
          <p:cNvSpPr/>
          <p:nvPr/>
        </p:nvSpPr>
        <p:spPr>
          <a:xfrm>
            <a:off x="4389120" y="5608320"/>
            <a:ext cx="73152" cy="707136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5" name="TextBox 84"/>
          <p:cNvSpPr txBox="1"/>
          <p:nvPr/>
        </p:nvSpPr>
        <p:spPr>
          <a:xfrm>
            <a:off x="4462272" y="5608320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Dataset Size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59808" y="5949696"/>
            <a:ext cx="707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1C1C2C"/>
                </a:solidFill>
                <a:latin typeface="Calibri"/>
              </a:rPr>
              <a:t>9 discrete points → degree-8 global polynomial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87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16D24ED-57AC-E23E-89FA-1F072DFC2E84}"/>
              </a:ext>
            </a:extLst>
          </p:cNvPr>
          <p:cNvGrpSpPr/>
          <p:nvPr/>
        </p:nvGrpSpPr>
        <p:grpSpPr>
          <a:xfrm>
            <a:off x="4389120" y="1833174"/>
            <a:ext cx="7376160" cy="426721"/>
            <a:chOff x="4389120" y="2389632"/>
            <a:chExt cx="7376160" cy="70713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FB16E4-1EC1-7CCA-D4EA-BD281A5DCFDD}"/>
                </a:ext>
              </a:extLst>
            </p:cNvPr>
            <p:cNvSpPr/>
            <p:nvPr/>
          </p:nvSpPr>
          <p:spPr>
            <a:xfrm>
              <a:off x="4389120" y="2389632"/>
              <a:ext cx="7376160" cy="70713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488CC3B-D097-C001-9C5E-9306ED0A28D3}"/>
                </a:ext>
              </a:extLst>
            </p:cNvPr>
            <p:cNvSpPr/>
            <p:nvPr/>
          </p:nvSpPr>
          <p:spPr>
            <a:xfrm>
              <a:off x="4389120" y="2389632"/>
              <a:ext cx="73152" cy="7071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4450080" y="1814688"/>
            <a:ext cx="737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A4F8A"/>
                </a:solidFill>
                <a:latin typeface="Calibri"/>
              </a:rPr>
              <a:t>Key Features of the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679450D-06BC-7FD4-18C9-E7B16337E94C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33" b="1">
                <a:solidFill>
                  <a:srgbClr val="FFFFFF"/>
                </a:solidFill>
                <a:latin typeface="Calibri"/>
              </a:rPr>
              <a:t>Mathematical Theory – Polynomial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58240"/>
            <a:ext cx="5608320" cy="5175183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365760" y="1158240"/>
            <a:ext cx="5608320" cy="426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26720" y="1162074"/>
            <a:ext cx="5303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① Lagrange 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8640" y="1682496"/>
                <a:ext cx="5242560" cy="847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b="1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82496"/>
                <a:ext cx="5242560" cy="8472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5760" y="2571512"/>
                <a:ext cx="5669280" cy="1312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each Lagrange basis polynomial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defined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𝐋</m:t>
                          </m:r>
                        </m:e>
                        <m:sub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e>
                            </m:mr>
                          </m:m>
                        </m:sub>
                        <m:sup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b>
                              </m:sSub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571512"/>
                <a:ext cx="5669280" cy="1312988"/>
              </a:xfrm>
              <a:prstGeom prst="rect">
                <a:avLst/>
              </a:prstGeom>
              <a:blipFill>
                <a:blip r:embed="rId3"/>
                <a:stretch>
                  <a:fillRect l="-860" t="-2791" r="-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87680" y="3900295"/>
            <a:ext cx="5242560" cy="4876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87680" y="4097954"/>
            <a:ext cx="5242560" cy="189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67" b="1" dirty="0">
                <a:solidFill>
                  <a:srgbClr val="1C1C2C"/>
                </a:solidFill>
                <a:latin typeface="Calibri"/>
              </a:rPr>
              <a:t>Key Properties: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Lₖ(xₖ) = 1  at the k-</a:t>
            </a:r>
            <a:r>
              <a:rPr sz="1467" dirty="0" err="1">
                <a:solidFill>
                  <a:srgbClr val="1C1C2C"/>
                </a:solidFill>
                <a:latin typeface="Calibri"/>
              </a:rPr>
              <a:t>th</a:t>
            </a:r>
            <a:r>
              <a:rPr sz="1467" dirty="0">
                <a:solidFill>
                  <a:srgbClr val="1C1C2C"/>
                </a:solidFill>
                <a:latin typeface="Calibri"/>
              </a:rPr>
              <a:t> node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Lₖ(xᵢ) = 0  at all other nodes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Passes exactly through all n+1 points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Degree = n  →  9 pts = degree-8 polynomial</a:t>
            </a:r>
          </a:p>
          <a:p>
            <a:endParaRPr sz="1467" dirty="0">
              <a:solidFill>
                <a:srgbClr val="1C1C2C"/>
              </a:solidFill>
              <a:latin typeface="Calibri"/>
            </a:endParaRP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Risk: Runge's Phenomenon (oscillation at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endpoints) with dense high-degree polynomials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58240"/>
            <a:ext cx="5608320" cy="5175183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6217920" y="1158240"/>
            <a:ext cx="5608320" cy="4267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278881" y="1152144"/>
            <a:ext cx="5303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② Newton's Divided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35040" y="1682495"/>
                <a:ext cx="60297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5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5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sz="115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15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5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sz="115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15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5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5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150" b="1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115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150" b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1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15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5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0" y="1682495"/>
                <a:ext cx="6029714" cy="27699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278880" y="3887022"/>
            <a:ext cx="5242560" cy="4876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335079" y="4062555"/>
            <a:ext cx="5364480" cy="212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67" b="1" dirty="0">
                <a:solidFill>
                  <a:srgbClr val="1C1C2C"/>
                </a:solidFill>
                <a:latin typeface="Calibri"/>
              </a:rPr>
              <a:t>Divided Differences (recursive):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f[xᵢ] = yᵢ              (0th order)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f[xᵢ, xᵢ₊₁] = (f[xᵢ₊₁]−f[xᵢ]) / (xᵢ₊₁−xᵢ)  (1st)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Higher orders computed similarly</a:t>
            </a:r>
          </a:p>
          <a:p>
            <a:endParaRPr sz="1467" dirty="0">
              <a:solidFill>
                <a:srgbClr val="1C1C2C"/>
              </a:solidFill>
              <a:latin typeface="Calibri"/>
            </a:endParaRP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Advantage: Adding a new data point only requires ONE new row — very efficient!</a:t>
            </a:r>
            <a:endParaRPr lang="en-US" sz="1467" dirty="0">
              <a:solidFill>
                <a:srgbClr val="1C1C2C"/>
              </a:solidFill>
              <a:latin typeface="Calibri"/>
            </a:endParaRPr>
          </a:p>
          <a:p>
            <a:endParaRPr lang="en-US" sz="1467" dirty="0">
              <a:solidFill>
                <a:srgbClr val="1C1C2C"/>
              </a:solidFill>
              <a:latin typeface="Calibri"/>
            </a:endParaRP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Mathematically identical to Lagrange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33A71B-1237-053D-FA4F-4D227DF925AA}"/>
                  </a:ext>
                </a:extLst>
              </p:cNvPr>
              <p:cNvSpPr txBox="1"/>
              <p:nvPr/>
            </p:nvSpPr>
            <p:spPr>
              <a:xfrm>
                <a:off x="6278880" y="1976894"/>
                <a:ext cx="6143346" cy="1914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1200" kern="100" dirty="0">
                  <a:solidFill>
                    <a:schemeClr val="tx1"/>
                  </a:solidFill>
                  <a:effectLst/>
                  <a:ea typeface="Calibri" panose="020F0502020204030204" pitchFamily="34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1600" kern="100" dirty="0">
                    <a:solidFill>
                      <a:schemeClr val="tx1"/>
                    </a:solidFill>
                    <a:effectLst/>
                    <a:ea typeface="Arial" panose="020B0604020202020204" pitchFamily="34" charset="0"/>
                  </a:rPr>
                  <a:t>The first-order divided difference is:</a:t>
                </a:r>
                <a:r>
                  <a:rPr lang="en-US" sz="1200" kern="10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600" b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sz="1600" b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600" b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600" b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ourier New" panose="02070309020205020404" pitchFamily="49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  <m:r>
                                  <a:rPr lang="en-US" sz="1600" b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600" b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1600" b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ourier New" panose="02070309020205020404" pitchFamily="49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sz="1600" b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600" b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ourier New" panose="02070309020205020404" pitchFamily="49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ourier New" panose="02070309020205020404" pitchFamily="49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endParaRPr lang="en-US" sz="1200" kern="100" dirty="0">
                  <a:solidFill>
                    <a:schemeClr val="tx1"/>
                  </a:solidFill>
                  <a:effectLst/>
                  <a:ea typeface="Calibri" panose="020F0502020204030204" pitchFamily="34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1600" kern="100" dirty="0">
                    <a:solidFill>
                      <a:schemeClr val="tx1"/>
                    </a:solidFill>
                    <a:effectLst/>
                    <a:ea typeface="Arial" panose="020B0604020202020204" pitchFamily="34" charset="0"/>
                  </a:rPr>
                  <a:t>And in general, the k-</a:t>
                </a:r>
                <a:r>
                  <a:rPr lang="en-US" sz="1600" kern="100" dirty="0" err="1">
                    <a:solidFill>
                      <a:schemeClr val="tx1"/>
                    </a:solidFill>
                    <a:effectLst/>
                    <a:ea typeface="Arial" panose="020B0604020202020204" pitchFamily="34" charset="0"/>
                  </a:rPr>
                  <a:t>th</a:t>
                </a:r>
                <a:r>
                  <a:rPr lang="en-US" sz="1600" kern="100" dirty="0">
                    <a:solidFill>
                      <a:schemeClr val="tx1"/>
                    </a:solidFill>
                    <a:effectLst/>
                    <a:ea typeface="Arial" panose="020B0604020202020204" pitchFamily="34" charset="0"/>
                  </a:rPr>
                  <a:t> order divided difference is:</a:t>
                </a:r>
                <a:endParaRPr lang="en-US" sz="1200" kern="100" dirty="0">
                  <a:solidFill>
                    <a:schemeClr val="tx1"/>
                  </a:solidFill>
                  <a:effectLst/>
                  <a:ea typeface="Calibri" panose="020F0502020204030204" pitchFamily="34" charset="0"/>
                </a:endParaRPr>
              </a:p>
              <a:p>
                <a:pPr marL="0" marR="0"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sz="16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ourier New" panose="02070309020205020404" pitchFamily="49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𝒇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𝒇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ourier New" panose="02070309020205020404" pitchFamily="49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sz="16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ourier New" panose="02070309020205020404" pitchFamily="49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ourier New" panose="02070309020205020404" pitchFamily="49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kern="100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33A71B-1237-053D-FA4F-4D227DF92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80" y="1976894"/>
                <a:ext cx="6143346" cy="1914370"/>
              </a:xfrm>
              <a:prstGeom prst="rect">
                <a:avLst/>
              </a:prstGeom>
              <a:blipFill>
                <a:blip r:embed="rId5"/>
                <a:stretch>
                  <a:fillRect l="-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7D17D8A-C731-BA62-1826-3D464C90532D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33" b="1">
                <a:solidFill>
                  <a:srgbClr val="FFFFFF"/>
                </a:solidFill>
                <a:latin typeface="Calibri"/>
              </a:rPr>
              <a:t>Mathematical Theory – MATLAB interp1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58239"/>
            <a:ext cx="5608320" cy="501813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365760" y="1158240"/>
            <a:ext cx="5608320" cy="426720"/>
          </a:xfrm>
          <a:prstGeom prst="rect">
            <a:avLst/>
          </a:prstGeom>
          <a:solidFill>
            <a:srgbClr val="22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512065" y="1182624"/>
            <a:ext cx="5303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③ Linear Interpolation  (interp1 'linear')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8640" y="1682496"/>
                <a:ext cx="5242560" cy="620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, </m:t>
                      </m:r>
                      <m:r>
                        <a:rPr lang="en-US" b="1" i="1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339933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82496"/>
                <a:ext cx="5242560" cy="620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548640" y="3701239"/>
            <a:ext cx="5242560" cy="4876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12065" y="3835351"/>
            <a:ext cx="5242560" cy="212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67" b="1" dirty="0">
                <a:solidFill>
                  <a:srgbClr val="1C1C2C"/>
                </a:solidFill>
                <a:latin typeface="Calibri"/>
              </a:rPr>
              <a:t>Characteristics: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• Piecewise first-degree polynomial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• Numerically stable and very fast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• Produces visible kinks at knot points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(discontinuous first derivative)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• Cannot capture smooth nonlinear curvature</a:t>
            </a:r>
          </a:p>
          <a:p>
            <a:endParaRPr sz="1467" dirty="0">
              <a:solidFill>
                <a:srgbClr val="1C1C2C"/>
              </a:solidFill>
              <a:latin typeface="Calibri"/>
            </a:endParaRP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Best used for: Quick estimates, simple datasets,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or when speed matters more than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58240"/>
            <a:ext cx="5608320" cy="5018138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6217920" y="1158240"/>
            <a:ext cx="5608320" cy="426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364225" y="1182624"/>
            <a:ext cx="5303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④ Cubic Spline  (interp1 'spline')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304" y="1870859"/>
            <a:ext cx="4764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S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(x) = a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 + b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(x − x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) + c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(x−  x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)² + d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(x − x</a:t>
            </a:r>
            <a:r>
              <a:rPr lang="en-US" sz="2000" b="1" baseline="-25000" dirty="0">
                <a:solidFill>
                  <a:srgbClr val="7030A0"/>
                </a:solidFill>
              </a:rPr>
              <a:t>i</a:t>
            </a:r>
            <a:r>
              <a:rPr lang="en-US" sz="2000" b="1" dirty="0">
                <a:solidFill>
                  <a:srgbClr val="7030A0"/>
                </a:solidFill>
              </a:rPr>
              <a:t>)³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4225" y="2558173"/>
            <a:ext cx="5364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cubic spline S(x) is a piecewise-cubic polynomial defined on each sub-interval [x</a:t>
            </a:r>
            <a:r>
              <a:rPr lang="en-US" baseline="-25000" dirty="0"/>
              <a:t>i</a:t>
            </a:r>
            <a:r>
              <a:rPr lang="en-US" dirty="0"/>
              <a:t>, x</a:t>
            </a:r>
            <a:r>
              <a:rPr lang="en-US" baseline="-25000" dirty="0"/>
              <a:t>i+1</a:t>
            </a:r>
            <a:r>
              <a:rPr lang="en-US" dirty="0"/>
              <a:t>] that satisfies: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5079" y="3676855"/>
            <a:ext cx="5242560" cy="4876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303264" y="3835351"/>
            <a:ext cx="5364480" cy="212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67" b="1" dirty="0">
                <a:solidFill>
                  <a:srgbClr val="1C1C2C"/>
                </a:solidFill>
                <a:latin typeface="Calibri"/>
              </a:rPr>
              <a:t>Continuity Conditions Enforced: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S(xᵢ) = yᵢ        (passes through all points)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S(x) continuous    (no gaps)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S′(x) continuous   (smooth slope at knots)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    S″(x) continuous   (smooth curvature — C²)</a:t>
            </a:r>
          </a:p>
          <a:p>
            <a:endParaRPr sz="1467" dirty="0">
              <a:solidFill>
                <a:srgbClr val="1C1C2C"/>
              </a:solidFill>
              <a:latin typeface="Calibri"/>
            </a:endParaRP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MATLAB uses not-a-knot boundary conditions.</a:t>
            </a:r>
          </a:p>
          <a:p>
            <a:r>
              <a:rPr sz="1467" dirty="0">
                <a:solidFill>
                  <a:srgbClr val="1C1C2C"/>
                </a:solidFill>
                <a:latin typeface="Calibri"/>
              </a:rPr>
              <a:t>★ BEST method for smooth engineering data</a:t>
            </a:r>
            <a:r>
              <a:rPr lang="en-US" sz="1467" dirty="0">
                <a:solidFill>
                  <a:srgbClr val="1C1C2C"/>
                </a:solidFill>
                <a:latin typeface="Calibri"/>
              </a:rPr>
              <a:t>, </a:t>
            </a:r>
            <a:r>
              <a:rPr sz="1467" dirty="0">
                <a:solidFill>
                  <a:srgbClr val="1C1C2C"/>
                </a:solidFill>
                <a:latin typeface="Calibri"/>
              </a:rPr>
              <a:t>physically realistic &amp; accurate!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FED8AB-CFCF-D36D-33E5-E944DEA08497}"/>
                  </a:ext>
                </a:extLst>
              </p:cNvPr>
              <p:cNvSpPr txBox="1"/>
              <p:nvPr/>
            </p:nvSpPr>
            <p:spPr>
              <a:xfrm>
                <a:off x="487680" y="2420088"/>
                <a:ext cx="4820332" cy="1181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interpolation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assumes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that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between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any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two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consecutive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data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points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xi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yi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xi</m:t>
                      </m:r>
                      <m:r>
                        <m:rPr>
                          <m:nor/>
                        </m:rPr>
                        <a:rPr lang="en-US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+1, 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yi</m:t>
                      </m:r>
                      <m:r>
                        <m:rPr>
                          <m:nor/>
                        </m:rPr>
                        <a:rPr lang="en-US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+1),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function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varies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linearly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any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query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point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[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xi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xi</m:t>
                      </m:r>
                      <m:r>
                        <m:rPr>
                          <m:nor/>
                        </m:rPr>
                        <a:rPr lang="en-US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+1]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FED8AB-CFCF-D36D-33E5-E944DEA08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2420088"/>
                <a:ext cx="4820332" cy="1181285"/>
              </a:xfrm>
              <a:prstGeom prst="rect">
                <a:avLst/>
              </a:prstGeom>
              <a:blipFill>
                <a:blip r:embed="rId3"/>
                <a:stretch>
                  <a:fillRect b="-3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F55112B-BEE7-701C-6BD0-F4122F67B866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33" b="1">
                <a:solidFill>
                  <a:srgbClr val="FFFFFF"/>
                </a:solidFill>
                <a:latin typeface="Calibri"/>
              </a:rPr>
              <a:t>MATLAB Implementation – Code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58241"/>
            <a:ext cx="5669280" cy="249935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365760" y="1158240"/>
            <a:ext cx="566928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87680" y="1207008"/>
            <a:ext cx="5364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7" b="1">
                <a:solidFill>
                  <a:srgbClr val="E8A81B"/>
                </a:solidFill>
                <a:latin typeface="Calibri"/>
              </a:rPr>
              <a:t>① Lagrange (Anonymous Function)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621537"/>
            <a:ext cx="5425440" cy="10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7">
                <a:solidFill>
                  <a:srgbClr val="A8D8AA"/>
                </a:solidFill>
                <a:latin typeface="Courier New"/>
              </a:rPr>
              <a:t>lagrange = @(xd,yd,xq) arrayfun(@(xi) ...
  sum(yd .* arrayfun(@(k) prod((xi-xd([1:k-1,k+1:end])) ./ ...
  (xd(k)-xd([1:k-1,k+1:end]))), 1:length(xd))), xq);
y_lagrange = lagrange(x_data, y_data, x_query);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5456" y="1158241"/>
            <a:ext cx="5669280" cy="249935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6315456" y="1158240"/>
            <a:ext cx="566928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437375" y="1207008"/>
            <a:ext cx="5364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7" b="1">
                <a:solidFill>
                  <a:srgbClr val="E8A81B"/>
                </a:solidFill>
                <a:latin typeface="Calibri"/>
              </a:rPr>
              <a:t>② Newton Divided Difference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5" y="1621537"/>
            <a:ext cx="5425440" cy="1652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7">
                <a:solidFill>
                  <a:srgbClr val="A8D8AA"/>
                </a:solidFill>
                <a:latin typeface="Courier New"/>
              </a:rPr>
              <a:t>dd = zeros(n,n);  dd(:,1) = y_data(:);
for j = 2:n
  for i = j:n
    dd(i,j) = (dd(i,j-1)-dd(i-1,j-1)) / (x_data(i)-x_data(i-j+1));
  end
end
coeff = diag(dd);   % Newton coefficients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16097"/>
            <a:ext cx="5669280" cy="249935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365760" y="3816096"/>
            <a:ext cx="566928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487680" y="3864864"/>
            <a:ext cx="5364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7" b="1">
                <a:solidFill>
                  <a:srgbClr val="E8A81B"/>
                </a:solidFill>
                <a:latin typeface="Calibri"/>
              </a:rPr>
              <a:t>③ Linear Interpolation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" y="4279392"/>
            <a:ext cx="5425440" cy="87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7">
                <a:solidFill>
                  <a:srgbClr val="A8D8AA"/>
                </a:solidFill>
                <a:latin typeface="Courier New"/>
              </a:rPr>
              <a:t>y_linear_fine  = interp1(x_data, y_data, x_fine, 'linear');
y_linear_query = interp1(x_data, y_data, x_query, 'linear');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456" y="3816097"/>
            <a:ext cx="5669280" cy="249935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6315456" y="3816096"/>
            <a:ext cx="566928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437375" y="3864864"/>
            <a:ext cx="53644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7" b="1">
                <a:solidFill>
                  <a:srgbClr val="E8A81B"/>
                </a:solidFill>
                <a:latin typeface="Calibri"/>
              </a:rPr>
              <a:t>④ Cubic Spline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5" y="4279392"/>
            <a:ext cx="5425440" cy="87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7">
                <a:solidFill>
                  <a:srgbClr val="A8D8AA"/>
                </a:solidFill>
                <a:latin typeface="Courier New"/>
              </a:rPr>
              <a:t>y_spline_fine  = interp1(x_data, y_data, x_fine, 'spline');
y_spline_query = interp1(x_data, y_data, x_query, 'spline');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F4E884D1-1E68-929C-5304-AD59B7577696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Results – Interpolated Stress Values at Query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" y="1158240"/>
            <a:ext cx="109728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487679" y="1219200"/>
            <a:ext cx="9753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Strain ε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0" y="1158240"/>
            <a:ext cx="231648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1584961" y="1219200"/>
            <a:ext cx="2194559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Lagrange (MPa)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158240"/>
            <a:ext cx="219456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901439" y="1219200"/>
            <a:ext cx="2072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Newton (MPa)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39" y="1158240"/>
            <a:ext cx="213360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095999" y="1219200"/>
            <a:ext cx="201168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Linear (MPa)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639" y="1158240"/>
            <a:ext cx="213360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9599" y="1219200"/>
            <a:ext cx="201168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Spline (MPa)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" y="1621536"/>
            <a:ext cx="10972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487679" y="1706880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0" y="1621536"/>
            <a:ext cx="23164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1584961" y="1706880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25.21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1621536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901439" y="1706880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25.21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39" y="1621536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095999" y="1706880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8639" y="1621536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229599" y="1706880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25.14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" y="2060448"/>
            <a:ext cx="10972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87679" y="2145792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2060448"/>
            <a:ext cx="23164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1584961" y="2145792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82.51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2060448"/>
            <a:ext cx="219456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3901439" y="2145792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82.51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39" y="2060448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6095999" y="2145792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82.67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68639" y="2060448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229599" y="2145792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82.73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" y="2499359"/>
            <a:ext cx="10972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487679" y="2584703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24000" y="2499359"/>
            <a:ext cx="23164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1584961" y="2584703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136.14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2499359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3901439" y="2584703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136.14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39" y="2499359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6095999" y="2584703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135.00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68639" y="2499359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8229599" y="2584703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135.89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720" y="2938272"/>
            <a:ext cx="10972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487679" y="3023616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0" y="2938272"/>
            <a:ext cx="23164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1584961" y="3023616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181.08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2938272"/>
            <a:ext cx="219456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3901439" y="3023616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181.08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39" y="2938272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6095999" y="3023616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180.00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68639" y="2938272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8229599" y="3023616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181.02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720" y="3377184"/>
            <a:ext cx="10972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487679" y="3462528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24000" y="3377184"/>
            <a:ext cx="23164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TextBox 57"/>
          <p:cNvSpPr txBox="1"/>
          <p:nvPr/>
        </p:nvSpPr>
        <p:spPr>
          <a:xfrm>
            <a:off x="1584961" y="3462528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216.05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0" y="3377184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3901439" y="3462528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216.05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39" y="3377184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6095999" y="3462528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215.00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68639" y="3377184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TextBox 63"/>
          <p:cNvSpPr txBox="1"/>
          <p:nvPr/>
        </p:nvSpPr>
        <p:spPr>
          <a:xfrm>
            <a:off x="8229599" y="3462528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216.01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6720" y="3816096"/>
            <a:ext cx="10972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487679" y="3901439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24000" y="3816096"/>
            <a:ext cx="23164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1584961" y="3901439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240.98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816096"/>
            <a:ext cx="219456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3901439" y="3901439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240.98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39" y="3816096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6095999" y="3901439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240.00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68639" y="3816096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8229599" y="3901439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240.91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6720" y="4255008"/>
            <a:ext cx="10972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487679" y="4340352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24000" y="4255008"/>
            <a:ext cx="23164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8" name="TextBox 77"/>
          <p:cNvSpPr txBox="1"/>
          <p:nvPr/>
        </p:nvSpPr>
        <p:spPr>
          <a:xfrm>
            <a:off x="1584961" y="4340352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257.63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0" y="4255008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0" name="TextBox 79"/>
          <p:cNvSpPr txBox="1"/>
          <p:nvPr/>
        </p:nvSpPr>
        <p:spPr>
          <a:xfrm>
            <a:off x="3901439" y="4340352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257.63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39" y="4255008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2" name="TextBox 81"/>
          <p:cNvSpPr txBox="1"/>
          <p:nvPr/>
        </p:nvSpPr>
        <p:spPr>
          <a:xfrm>
            <a:off x="6095999" y="4340352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257.00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68639" y="4255008"/>
            <a:ext cx="2133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4" name="TextBox 83"/>
          <p:cNvSpPr txBox="1"/>
          <p:nvPr/>
        </p:nvSpPr>
        <p:spPr>
          <a:xfrm>
            <a:off x="8229599" y="4340352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257.58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6720" y="4693920"/>
            <a:ext cx="10972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6" name="TextBox 85"/>
          <p:cNvSpPr txBox="1"/>
          <p:nvPr/>
        </p:nvSpPr>
        <p:spPr>
          <a:xfrm>
            <a:off x="487679" y="4779264"/>
            <a:ext cx="9753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24000" y="4693920"/>
            <a:ext cx="231648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8" name="TextBox 87"/>
          <p:cNvSpPr txBox="1"/>
          <p:nvPr/>
        </p:nvSpPr>
        <p:spPr>
          <a:xfrm>
            <a:off x="1584961" y="4779264"/>
            <a:ext cx="21945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270.31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40480" y="4693920"/>
            <a:ext cx="219456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0" name="TextBox 89"/>
          <p:cNvSpPr txBox="1"/>
          <p:nvPr/>
        </p:nvSpPr>
        <p:spPr>
          <a:xfrm>
            <a:off x="3901439" y="4779264"/>
            <a:ext cx="207264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270.31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35039" y="4693920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2" name="TextBox 91"/>
          <p:cNvSpPr txBox="1"/>
          <p:nvPr/>
        </p:nvSpPr>
        <p:spPr>
          <a:xfrm>
            <a:off x="6095999" y="4779264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270.33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68639" y="4693920"/>
            <a:ext cx="2133600" cy="438912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4" name="TextBox 93"/>
          <p:cNvSpPr txBox="1"/>
          <p:nvPr/>
        </p:nvSpPr>
        <p:spPr>
          <a:xfrm>
            <a:off x="8229599" y="4779264"/>
            <a:ext cx="20116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270.25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4799" y="5105065"/>
            <a:ext cx="11338560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33" b="1" dirty="0">
                <a:solidFill>
                  <a:srgbClr val="FFC000"/>
                </a:solidFill>
                <a:latin typeface="Calibri"/>
              </a:rPr>
              <a:t>Key Observations: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6720" y="5449824"/>
            <a:ext cx="60960" cy="316992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TextBox 96"/>
          <p:cNvSpPr txBox="1"/>
          <p:nvPr/>
        </p:nvSpPr>
        <p:spPr>
          <a:xfrm>
            <a:off x="457200" y="5428285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Lagrange &amp; Newton produce identical results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, </a:t>
            </a:r>
            <a:r>
              <a:rPr dirty="0">
                <a:solidFill>
                  <a:schemeClr val="bg1"/>
                </a:solidFill>
                <a:latin typeface="Calibri"/>
              </a:rPr>
              <a:t>confirms both implementations are correct.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6720" y="5852160"/>
            <a:ext cx="60960" cy="316992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9" name="TextBox 98"/>
          <p:cNvSpPr txBox="1"/>
          <p:nvPr/>
        </p:nvSpPr>
        <p:spPr>
          <a:xfrm>
            <a:off x="457199" y="5832909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Cubic Spline and polynomial methods agree closely at interior points (within 0.3 MPa).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6720" y="6254496"/>
            <a:ext cx="60960" cy="316992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1" name="TextBox 100"/>
          <p:cNvSpPr txBox="1"/>
          <p:nvPr/>
        </p:nvSpPr>
        <p:spPr>
          <a:xfrm>
            <a:off x="457199" y="6229192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Linear interpolation deviates most in curved region (up to ~1 MPa error at ε = 0.10–0.14).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3" name="TextBox 102"/>
          <p:cNvSpPr txBox="1"/>
          <p:nvPr/>
        </p:nvSpPr>
        <p:spPr>
          <a:xfrm>
            <a:off x="365760" y="6547105"/>
            <a:ext cx="1146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B64F5677-BBEF-8C02-2CD9-8B2536FB09B7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5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67" b="1" dirty="0">
                <a:solidFill>
                  <a:srgbClr val="FFFFFF"/>
                </a:solidFill>
                <a:latin typeface="Calibri"/>
              </a:rPr>
              <a:t>Error Analysis</a:t>
            </a:r>
            <a:r>
              <a:rPr lang="en-US" sz="2667" b="1" dirty="0">
                <a:solidFill>
                  <a:srgbClr val="FFFFFF"/>
                </a:solidFill>
                <a:latin typeface="Calibri"/>
              </a:rPr>
              <a:t>. </a:t>
            </a:r>
            <a:r>
              <a:rPr sz="2667" b="1" dirty="0">
                <a:solidFill>
                  <a:srgbClr val="FFFFFF"/>
                </a:solidFill>
                <a:latin typeface="Calibri"/>
              </a:rPr>
              <a:t>Absolute Difference vs. Cubic Spline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" y="1133856"/>
            <a:ext cx="103632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487679" y="1182625"/>
            <a:ext cx="91440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Strain ε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133856"/>
            <a:ext cx="304800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1524000" y="1182624"/>
            <a:ext cx="292608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|Err| Lagrange (MPa)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11040" y="1133856"/>
            <a:ext cx="292608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572000" y="1182624"/>
            <a:ext cx="28041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|Err| Newton (MPa)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7120" y="1133856"/>
            <a:ext cx="292608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7498079" y="1182624"/>
            <a:ext cx="28041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3" b="1">
                <a:solidFill>
                  <a:srgbClr val="FFFFFF"/>
                </a:solidFill>
                <a:latin typeface="Calibri"/>
              </a:rPr>
              <a:t>|Err| Linear (MPa)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" y="1572768"/>
            <a:ext cx="103632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87679" y="1658112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572768"/>
            <a:ext cx="304800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1524000" y="1658112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0.0700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11040" y="1572768"/>
            <a:ext cx="292608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4572000" y="1658112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0.0700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7120" y="1572768"/>
            <a:ext cx="292608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7498079" y="1658112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" y="1987296"/>
            <a:ext cx="103632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487679" y="2072640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1987296"/>
            <a:ext cx="304800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524000" y="2072640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1040" y="1987296"/>
            <a:ext cx="292608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572000" y="2072640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37120" y="1987296"/>
            <a:ext cx="292608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7498079" y="2072640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" y="2401824"/>
            <a:ext cx="103632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487679" y="2487168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2401824"/>
            <a:ext cx="304800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1524000" y="2487168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1040" y="2401824"/>
            <a:ext cx="292608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4572000" y="2487168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0.2500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7120" y="2401824"/>
            <a:ext cx="2926080" cy="414528"/>
          </a:xfrm>
          <a:prstGeom prst="rect">
            <a:avLst/>
          </a:prstGeom>
          <a:solidFill>
            <a:srgbClr val="FFE5E5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7498079" y="2487168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C00000"/>
                </a:solidFill>
                <a:latin typeface="Calibri"/>
              </a:rPr>
              <a:t>0.8900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6720" y="2816352"/>
            <a:ext cx="103632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487679" y="2901696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2816352"/>
            <a:ext cx="304800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1524000" y="2901696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11040" y="2816352"/>
            <a:ext cx="292608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4572000" y="2901696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37120" y="2816352"/>
            <a:ext cx="2926080" cy="414528"/>
          </a:xfrm>
          <a:prstGeom prst="rect">
            <a:avLst/>
          </a:prstGeom>
          <a:solidFill>
            <a:srgbClr val="FFE5E5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7498079" y="2901696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C00000"/>
                </a:solidFill>
                <a:latin typeface="Calibri"/>
              </a:rPr>
              <a:t>1.0200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720" y="3230880"/>
            <a:ext cx="103632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487679" y="3316224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230880"/>
            <a:ext cx="304800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1524000" y="3316224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0.0400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1040" y="3230880"/>
            <a:ext cx="292608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4572000" y="3316224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37120" y="3230880"/>
            <a:ext cx="2926080" cy="414528"/>
          </a:xfrm>
          <a:prstGeom prst="rect">
            <a:avLst/>
          </a:prstGeom>
          <a:solidFill>
            <a:srgbClr val="FFE5E5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7498079" y="3316224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C00000"/>
                </a:solidFill>
                <a:latin typeface="Calibri"/>
              </a:rPr>
              <a:t>1.0100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6720" y="3645408"/>
            <a:ext cx="103632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487679" y="3730752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63040" y="3645408"/>
            <a:ext cx="304800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1524000" y="3730752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0.0700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11040" y="3645408"/>
            <a:ext cx="292608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TextBox 57"/>
          <p:cNvSpPr txBox="1"/>
          <p:nvPr/>
        </p:nvSpPr>
        <p:spPr>
          <a:xfrm>
            <a:off x="4572000" y="3730752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0.0700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37120" y="3645408"/>
            <a:ext cx="2926080" cy="414528"/>
          </a:xfrm>
          <a:prstGeom prst="rect">
            <a:avLst/>
          </a:prstGeom>
          <a:solidFill>
            <a:srgbClr val="FFE5E5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7498079" y="3730752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C00000"/>
                </a:solidFill>
                <a:latin typeface="Calibri"/>
              </a:rPr>
              <a:t>0.9100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6720" y="4059936"/>
            <a:ext cx="103632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487679" y="4145280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63040" y="4059936"/>
            <a:ext cx="304800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TextBox 63"/>
          <p:cNvSpPr txBox="1"/>
          <p:nvPr/>
        </p:nvSpPr>
        <p:spPr>
          <a:xfrm>
            <a:off x="1524000" y="4145280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0.0500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11040" y="4059936"/>
            <a:ext cx="2926080" cy="414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4572000" y="4145280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0.0500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37120" y="4059936"/>
            <a:ext cx="2926080" cy="414528"/>
          </a:xfrm>
          <a:prstGeom prst="rect">
            <a:avLst/>
          </a:prstGeom>
          <a:solidFill>
            <a:srgbClr val="FFE5E5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7498079" y="4145280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C00000"/>
                </a:solidFill>
                <a:latin typeface="Calibri"/>
              </a:rPr>
              <a:t>0.5800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6720" y="4474464"/>
            <a:ext cx="103632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487679" y="4559808"/>
            <a:ext cx="9144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0.27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63040" y="4474464"/>
            <a:ext cx="304800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1524000" y="4559808"/>
            <a:ext cx="2926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11040" y="4474464"/>
            <a:ext cx="292608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4572000" y="4559808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0.0600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37120" y="4474464"/>
            <a:ext cx="2926080" cy="414528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7498079" y="4559808"/>
            <a:ext cx="280416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7">
                <a:solidFill>
                  <a:srgbClr val="1C1C2C"/>
                </a:solidFill>
                <a:latin typeface="Calibri"/>
              </a:rPr>
              <a:t>0.0800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6720" y="5096255"/>
            <a:ext cx="73152" cy="36576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TextBox 78"/>
          <p:cNvSpPr txBox="1"/>
          <p:nvPr/>
        </p:nvSpPr>
        <p:spPr>
          <a:xfrm>
            <a:off x="487679" y="5092682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C000"/>
                </a:solidFill>
                <a:latin typeface="Calibri"/>
              </a:rPr>
              <a:t>Lagrange &amp; Newton: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37322" y="5100566"/>
            <a:ext cx="865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Max error ~0.22 MPa — very close to spline everywhere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.</a:t>
            </a:r>
            <a:endParaRPr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26720" y="5559551"/>
            <a:ext cx="73152" cy="36576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2" name="TextBox 81"/>
          <p:cNvSpPr txBox="1"/>
          <p:nvPr/>
        </p:nvSpPr>
        <p:spPr>
          <a:xfrm>
            <a:off x="487679" y="5575592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C000"/>
                </a:solidFill>
                <a:latin typeface="Calibri"/>
              </a:rPr>
              <a:t>Linear Interpolation: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37322" y="5555979"/>
            <a:ext cx="865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Max error ~1.02 MPa at ε=0.10 (red cells)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, </a:t>
            </a:r>
            <a:r>
              <a:rPr dirty="0">
                <a:solidFill>
                  <a:schemeClr val="bg1"/>
                </a:solidFill>
                <a:latin typeface="Calibri"/>
              </a:rPr>
              <a:t>misses curvature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.</a:t>
            </a:r>
            <a:endParaRPr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26720" y="6022848"/>
            <a:ext cx="73152" cy="36576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5" name="TextBox 84"/>
          <p:cNvSpPr txBox="1"/>
          <p:nvPr/>
        </p:nvSpPr>
        <p:spPr>
          <a:xfrm>
            <a:off x="499872" y="602932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C000"/>
                </a:solidFill>
                <a:latin typeface="Calibri"/>
              </a:rPr>
              <a:t>Reference Method: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37322" y="6012216"/>
            <a:ext cx="865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Cubic Spline — smoothest, C² continuous, physically most accurate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.</a:t>
            </a:r>
            <a:endParaRPr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8" name="TextBox 87"/>
          <p:cNvSpPr txBox="1"/>
          <p:nvPr/>
        </p:nvSpPr>
        <p:spPr>
          <a:xfrm>
            <a:off x="365760" y="6547105"/>
            <a:ext cx="11460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5657A"/>
                </a:solidFill>
                <a:latin typeface="Calibri"/>
              </a:rPr>
              <a:t>Frais Asghar  |  CMS: 516900  |  ME-16A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8E4E3F0B-ACBC-35EE-5442-ADF10701019F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5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Method Comparison –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20" y="1158240"/>
            <a:ext cx="310896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487679" y="1231392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5680" y="1158240"/>
            <a:ext cx="195072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596639" y="123139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Lagrange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158240"/>
            <a:ext cx="195072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547360" y="123139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Newton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7120" y="1158240"/>
            <a:ext cx="195072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7498079" y="123139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87839" y="1158240"/>
            <a:ext cx="2072640" cy="46329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9448799" y="1231392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Calibri"/>
              </a:rPr>
              <a:t>Spline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" y="1621536"/>
            <a:ext cx="310896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487679" y="1743457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Accuracy (smooth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680" y="16215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596639" y="17434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6215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5547360" y="17434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7120" y="16215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7498079" y="17434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Moderate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87839" y="1621536"/>
            <a:ext cx="207264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9448799" y="1743457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Very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" y="2231136"/>
            <a:ext cx="310896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487679" y="2353057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Smoothness of curve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5680" y="22311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3596639" y="23530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Smooth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2311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5547360" y="23530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Smooth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37120" y="22311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7498079" y="23530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Piecewise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87839" y="2231136"/>
            <a:ext cx="207264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9448799" y="2353057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C² Continuous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" y="2840736"/>
            <a:ext cx="310896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487679" y="2962657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Ease of adding points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35680" y="28407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3596639" y="29626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Hard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8407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5547360" y="29626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Easy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7120" y="28407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7498079" y="29626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Easy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87839" y="2840736"/>
            <a:ext cx="207264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9448799" y="2962657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Moderate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720" y="3450336"/>
            <a:ext cx="310896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487679" y="3572257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Risk of oscillation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35680" y="3450336"/>
            <a:ext cx="1950720" cy="609600"/>
          </a:xfrm>
          <a:prstGeom prst="rect">
            <a:avLst/>
          </a:prstGeom>
          <a:solidFill>
            <a:srgbClr val="FFEED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3596639" y="35722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B05000"/>
                </a:solidFill>
                <a:latin typeface="Calibri"/>
              </a:rPr>
              <a:t>Yes (Runge)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450336"/>
            <a:ext cx="1950720" cy="609600"/>
          </a:xfrm>
          <a:prstGeom prst="rect">
            <a:avLst/>
          </a:prstGeom>
          <a:solidFill>
            <a:srgbClr val="FFEED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49"/>
          <p:cNvSpPr txBox="1"/>
          <p:nvPr/>
        </p:nvSpPr>
        <p:spPr>
          <a:xfrm>
            <a:off x="5547360" y="35722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B05000"/>
                </a:solidFill>
                <a:latin typeface="Calibri"/>
              </a:rPr>
              <a:t>Yes (Runge)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37120" y="34503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TextBox 51"/>
          <p:cNvSpPr txBox="1"/>
          <p:nvPr/>
        </p:nvSpPr>
        <p:spPr>
          <a:xfrm>
            <a:off x="7498079" y="35722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None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87839" y="3450336"/>
            <a:ext cx="207264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9448799" y="3572257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Minimal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720" y="4059936"/>
            <a:ext cx="310896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TextBox 55"/>
          <p:cNvSpPr txBox="1"/>
          <p:nvPr/>
        </p:nvSpPr>
        <p:spPr>
          <a:xfrm>
            <a:off x="487679" y="4181857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Best for engineering?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35680" y="40599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8" name="TextBox 57"/>
          <p:cNvSpPr txBox="1"/>
          <p:nvPr/>
        </p:nvSpPr>
        <p:spPr>
          <a:xfrm>
            <a:off x="3596639" y="41818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Sometimes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40599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0" name="TextBox 59"/>
          <p:cNvSpPr txBox="1"/>
          <p:nvPr/>
        </p:nvSpPr>
        <p:spPr>
          <a:xfrm>
            <a:off x="5547360" y="41818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Sometimes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37120" y="4059936"/>
            <a:ext cx="1950720" cy="6096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2" name="TextBox 61"/>
          <p:cNvSpPr txBox="1"/>
          <p:nvPr/>
        </p:nvSpPr>
        <p:spPr>
          <a:xfrm>
            <a:off x="7498079" y="41818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Simple cases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87839" y="4059936"/>
            <a:ext cx="2072640" cy="609600"/>
          </a:xfrm>
          <a:prstGeom prst="rect">
            <a:avLst/>
          </a:prstGeom>
          <a:solidFill>
            <a:srgbClr val="D8F0DB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4" name="TextBox 63"/>
          <p:cNvSpPr txBox="1"/>
          <p:nvPr/>
        </p:nvSpPr>
        <p:spPr>
          <a:xfrm>
            <a:off x="9448799" y="4181857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A6A20"/>
                </a:solidFill>
                <a:latin typeface="Calibri"/>
              </a:rPr>
              <a:t>✓ 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6720" y="4669536"/>
            <a:ext cx="310896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6" name="TextBox 65"/>
          <p:cNvSpPr txBox="1"/>
          <p:nvPr/>
        </p:nvSpPr>
        <p:spPr>
          <a:xfrm>
            <a:off x="487679" y="4791457"/>
            <a:ext cx="2987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Identical to other?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35680" y="46695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TextBox 67"/>
          <p:cNvSpPr txBox="1"/>
          <p:nvPr/>
        </p:nvSpPr>
        <p:spPr>
          <a:xfrm>
            <a:off x="3596639" y="47914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= Newton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0" y="46695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9"/>
          <p:cNvSpPr txBox="1"/>
          <p:nvPr/>
        </p:nvSpPr>
        <p:spPr>
          <a:xfrm>
            <a:off x="5547360" y="47914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= Lagrange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37120" y="4669536"/>
            <a:ext cx="195072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2" name="TextBox 71"/>
          <p:cNvSpPr txBox="1"/>
          <p:nvPr/>
        </p:nvSpPr>
        <p:spPr>
          <a:xfrm>
            <a:off x="7498079" y="4791457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87839" y="4669536"/>
            <a:ext cx="2072640" cy="609600"/>
          </a:xfrm>
          <a:prstGeom prst="rect">
            <a:avLst/>
          </a:prstGeom>
          <a:solidFill>
            <a:srgbClr val="EAEFFA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4" name="TextBox 73"/>
          <p:cNvSpPr txBox="1"/>
          <p:nvPr/>
        </p:nvSpPr>
        <p:spPr>
          <a:xfrm>
            <a:off x="9448799" y="4791457"/>
            <a:ext cx="1950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1C1C2C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TextBox 75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109018C-E7BC-4DCE-8D8B-756F25AC6980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33" b="1" dirty="0">
                <a:solidFill>
                  <a:srgbClr val="FFFFFF"/>
                </a:solidFill>
                <a:latin typeface="Calibri"/>
              </a:rPr>
              <a:t>Plots &amp; Graphical Results</a:t>
            </a:r>
            <a:r>
              <a:rPr lang="en-US" sz="2933" b="1" dirty="0">
                <a:solidFill>
                  <a:srgbClr val="FFFFFF"/>
                </a:solidFill>
                <a:latin typeface="Calibri"/>
              </a:rPr>
              <a:t>.</a:t>
            </a:r>
            <a:r>
              <a:rPr sz="2933" b="1" dirty="0">
                <a:solidFill>
                  <a:srgbClr val="FFFFFF"/>
                </a:solidFill>
                <a:latin typeface="Calibri"/>
              </a:rPr>
              <a:t> 6 MATLAB Figures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94817"/>
            <a:ext cx="3718560" cy="249935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365760" y="1194816"/>
            <a:ext cx="371856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77952" y="1215431"/>
            <a:ext cx="1121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8A81B"/>
                </a:solidFill>
                <a:latin typeface="Calibri"/>
              </a:rPr>
              <a:t>Figure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15431"/>
            <a:ext cx="268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Lagrange Interpolation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1658112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Smooth degree-8 global polynomial. Runge oscillation may appear near endpoints but fits all data points exactly.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0624" y="1194817"/>
            <a:ext cx="3718560" cy="249935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230624" y="1194816"/>
            <a:ext cx="3718560" cy="390144"/>
          </a:xfrm>
          <a:prstGeom prst="rect">
            <a:avLst/>
          </a:prstGeom>
          <a:solidFill>
            <a:srgbClr val="C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255009" y="1205222"/>
            <a:ext cx="1243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8A81B"/>
                </a:solidFill>
                <a:latin typeface="Calibri"/>
              </a:rPr>
              <a:t>Figure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8982" y="1215431"/>
            <a:ext cx="3072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Newton Divided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658112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>
                <a:solidFill>
                  <a:srgbClr val="1C1C2C"/>
                </a:solidFill>
                <a:latin typeface="Calibri"/>
              </a:rPr>
              <a:t>Curve overlaps Lagrange perfectly</a:t>
            </a:r>
            <a:r>
              <a:rPr lang="en-US" dirty="0">
                <a:solidFill>
                  <a:srgbClr val="1C1C2C"/>
                </a:solidFill>
                <a:latin typeface="Calibri"/>
              </a:rPr>
              <a:t> </a:t>
            </a:r>
            <a:r>
              <a:rPr dirty="0">
                <a:solidFill>
                  <a:srgbClr val="1C1C2C"/>
                </a:solidFill>
                <a:latin typeface="Calibri"/>
              </a:rPr>
              <a:t>mathematically identical polynomial. Confirms both implementations.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5488" y="1194817"/>
            <a:ext cx="3718560" cy="249935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095488" y="1194816"/>
            <a:ext cx="3718560" cy="390144"/>
          </a:xfrm>
          <a:prstGeom prst="rect">
            <a:avLst/>
          </a:prstGeom>
          <a:solidFill>
            <a:srgbClr val="22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124363" y="1194817"/>
            <a:ext cx="1234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8A81B"/>
                </a:solidFill>
                <a:latin typeface="Calibri"/>
              </a:rPr>
              <a:t>Figure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831" y="1215431"/>
            <a:ext cx="317735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Calibri"/>
              </a:rPr>
              <a:t>Linear Interpolation (interp1)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7" y="1658112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Piecewise straight lines. Visible kinks at each knot point. Simple but misses nonlinear curvature.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77057"/>
            <a:ext cx="3718560" cy="249935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365760" y="3877056"/>
            <a:ext cx="3718560" cy="390144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386293" y="3867223"/>
            <a:ext cx="1243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8A81B"/>
                </a:solidFill>
                <a:latin typeface="Calibri"/>
              </a:rPr>
              <a:t>Figure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8821" y="3887462"/>
            <a:ext cx="268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Cubic Spline (interp1)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" y="4340352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>
                <a:solidFill>
                  <a:srgbClr val="1C1C2C"/>
                </a:solidFill>
                <a:latin typeface="Calibri"/>
              </a:rPr>
              <a:t>Smoothest curve with continuous curvature (C²). Best physical representation. Recommended for engineering.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0624" y="3877057"/>
            <a:ext cx="3718560" cy="249935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ectangle 25"/>
          <p:cNvSpPr/>
          <p:nvPr/>
        </p:nvSpPr>
        <p:spPr>
          <a:xfrm>
            <a:off x="4230624" y="3877056"/>
            <a:ext cx="3718560" cy="390144"/>
          </a:xfrm>
          <a:prstGeom prst="rect">
            <a:avLst/>
          </a:prstGeom>
          <a:solidFill>
            <a:srgbClr val="0E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4230624" y="3867223"/>
            <a:ext cx="137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8A81B"/>
                </a:solidFill>
                <a:latin typeface="Calibri"/>
              </a:rPr>
              <a:t>Figure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6077" y="3867865"/>
            <a:ext cx="268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2×2 Subplot Layout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4340352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>
                <a:solidFill>
                  <a:srgbClr val="1C1C2C"/>
                </a:solidFill>
                <a:latin typeface="Calibri"/>
              </a:rPr>
              <a:t>All four methods on one page for easy side-by-side visual comparison.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5488" y="3877057"/>
            <a:ext cx="3718560" cy="2499359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30"/>
          <p:cNvSpPr/>
          <p:nvPr/>
        </p:nvSpPr>
        <p:spPr>
          <a:xfrm>
            <a:off x="8095488" y="3877056"/>
            <a:ext cx="3718560" cy="39014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8095488" y="3867223"/>
            <a:ext cx="1141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8A81B"/>
                </a:solidFill>
                <a:latin typeface="Calibri"/>
              </a:rPr>
              <a:t>Figure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9888" y="3867865"/>
            <a:ext cx="268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Combined Overlay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7407" y="4340352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>
                <a:solidFill>
                  <a:srgbClr val="1C1C2C"/>
                </a:solidFill>
                <a:latin typeface="Calibri"/>
              </a:rPr>
              <a:t>All four curves on one graph with distinct line styles and colors. Annotation highlights </a:t>
            </a:r>
            <a:r>
              <a:rPr dirty="0" err="1">
                <a:solidFill>
                  <a:srgbClr val="1C1C2C"/>
                </a:solidFill>
                <a:latin typeface="Calibri"/>
              </a:rPr>
              <a:t>Lagrange≈Newton</a:t>
            </a:r>
            <a:r>
              <a:rPr dirty="0">
                <a:solidFill>
                  <a:srgbClr val="1C1C2C"/>
                </a:solidFill>
                <a:latin typeface="Calibri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AB8E-4971-D595-7914-2B3790BC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F61ECD6E-FE2A-99AC-A6C4-453AABB36A7B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C933F7-61F2-3C9D-17EE-A2590B1C19AE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2C01DF-02D9-AB54-C40D-3233E7AFFF23}"/>
              </a:ext>
            </a:extLst>
          </p:cNvPr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9E302-A079-32E6-1256-8BEE3B358ADB}"/>
              </a:ext>
            </a:extLst>
          </p:cNvPr>
          <p:cNvSpPr txBox="1"/>
          <p:nvPr/>
        </p:nvSpPr>
        <p:spPr>
          <a:xfrm>
            <a:off x="426720" y="146305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Graphs Comparison</a:t>
            </a:r>
            <a:endParaRPr sz="4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F7FED13-57AE-F66C-0C49-0BD076888CC9}"/>
              </a:ext>
            </a:extLst>
          </p:cNvPr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2EECA8-6DDC-23CE-AEC7-CE6609887086}"/>
              </a:ext>
            </a:extLst>
          </p:cNvPr>
          <p:cNvSpPr txBox="1"/>
          <p:nvPr/>
        </p:nvSpPr>
        <p:spPr>
          <a:xfrm>
            <a:off x="365760" y="6547105"/>
            <a:ext cx="1146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FF75FC5-33D9-3C11-43FE-6A6FC24261FC}"/>
              </a:ext>
            </a:extLst>
          </p:cNvPr>
          <p:cNvGrpSpPr/>
          <p:nvPr/>
        </p:nvGrpSpPr>
        <p:grpSpPr>
          <a:xfrm>
            <a:off x="1001263" y="1151005"/>
            <a:ext cx="10189473" cy="5257030"/>
            <a:chOff x="1001263" y="1151005"/>
            <a:chExt cx="10189473" cy="5257030"/>
          </a:xfrm>
        </p:grpSpPr>
        <p:pic>
          <p:nvPicPr>
            <p:cNvPr id="78" name="Picture 2">
              <a:extLst>
                <a:ext uri="{FF2B5EF4-FFF2-40B4-BE49-F238E27FC236}">
                  <a16:creationId xmlns:a16="http://schemas.microsoft.com/office/drawing/2014/main" id="{6787ABED-166B-9DAD-F8C1-2C5EA59C0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839" r="3601"/>
            <a:stretch>
              <a:fillRect/>
            </a:stretch>
          </p:blipFill>
          <p:spPr>
            <a:xfrm>
              <a:off x="1001263" y="1151005"/>
              <a:ext cx="10189473" cy="5257030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4B0416A-A0DD-5077-0B44-9288669BD121}"/>
                </a:ext>
              </a:extLst>
            </p:cNvPr>
            <p:cNvSpPr/>
            <p:nvPr/>
          </p:nvSpPr>
          <p:spPr>
            <a:xfrm>
              <a:off x="10432026" y="6246881"/>
              <a:ext cx="758710" cy="136436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</p:grpSp>
    </p:spTree>
    <p:extLst>
      <p:ext uri="{BB962C8B-B14F-4D97-AF65-F5344CB8AC3E}">
        <p14:creationId xmlns:p14="http://schemas.microsoft.com/office/powerpoint/2010/main" val="301070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D91CBFD-664C-6EF3-FE1C-89D85B22E500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Manual Calculation – Estimating Stress at ε = 0.10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" y="1158240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>
                <a:solidFill>
                  <a:schemeClr val="bg1"/>
                </a:solidFill>
                <a:latin typeface="Calibri"/>
              </a:rPr>
              <a:t>Using 3 nearby data points: P3 (0.05, 110), P4 (0.08, 160), P5 (0.12, 200)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669280" cy="481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66928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12064" y="1670304"/>
            <a:ext cx="536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Lagrange Basis Polynomials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669280" cy="481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669280" cy="390144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364224" y="1670304"/>
            <a:ext cx="536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Newton Divided 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1" y="6503958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745127" y="6488668"/>
            <a:ext cx="8262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E8A81B"/>
                </a:solidFill>
                <a:latin typeface="Calibri"/>
              </a:rPr>
              <a:t>Both methods agree: P(0.10) ≈ 181.08 MPa — confirms correctness!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3E6434-6E62-B5F4-2BF6-E27F726C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075736"/>
            <a:ext cx="3352972" cy="41340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9BD137-5259-8D6F-713B-DDA144C0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6103412"/>
            <a:ext cx="5124713" cy="2921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FA2C3B6-6352-0BA1-E9C0-46825ABD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773" y="2188472"/>
            <a:ext cx="5669280" cy="39375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A6F6EB8-B9C3-C13D-E355-7CF0A977527E}"/>
              </a:ext>
            </a:extLst>
          </p:cNvPr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3632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146304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33" b="1">
                <a:solidFill>
                  <a:srgbClr val="FFFFFF"/>
                </a:solidFill>
                <a:latin typeface="Calibri"/>
              </a:rPr>
              <a:t>Physical Interpretation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19" y="1621537"/>
            <a:ext cx="11578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stress-strain curve shows a steeply rising elastic region (ε = 0–0.05), then transitions to a gradual strain-hardening plateau (ε = 0.10–0.30). The decreasing tangent modulus is characteristic of Face-Centered Cubic (FCC) metals like copper.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" y="3023616"/>
            <a:ext cx="3718560" cy="1219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426720" y="3023616"/>
            <a:ext cx="371856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63296" y="3009197"/>
            <a:ext cx="341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E8A81B"/>
                </a:solidFill>
                <a:latin typeface="Calibri"/>
              </a:rPr>
              <a:t>FEA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56354"/>
            <a:ext cx="3864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Provides continuous material model for Finite Element Analysis simulations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1584" y="3023616"/>
            <a:ext cx="3718560" cy="1219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291584" y="3023616"/>
            <a:ext cx="371856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267199" y="3017520"/>
            <a:ext cx="341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E8A81B"/>
                </a:solidFill>
                <a:latin typeface="Calibri"/>
              </a:rPr>
              <a:t>Fatigue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1583" y="3458956"/>
            <a:ext cx="3742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Enables stress estimation at any strain for fatigue and fracture calculations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3023616"/>
            <a:ext cx="3718560" cy="1219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156448" y="3023616"/>
            <a:ext cx="371856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156448" y="3009197"/>
            <a:ext cx="341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E8A81B"/>
                </a:solidFill>
                <a:latin typeface="Calibri"/>
              </a:rPr>
              <a:t>Process Sim.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5487" y="3458955"/>
            <a:ext cx="3979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C1C2C"/>
                </a:solidFill>
                <a:latin typeface="Calibri"/>
              </a:rPr>
              <a:t>Supports forming and machining process simulation requiring smooth curves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799" y="4417969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C000"/>
                </a:solidFill>
                <a:latin typeface="Calibri"/>
              </a:rPr>
              <a:t>Key Observations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" y="4937760"/>
            <a:ext cx="73152" cy="268224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09600" y="4876800"/>
            <a:ext cx="1109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Lagrange &amp; Newton are mathematically identical → curves overlap perfectly in all plots.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" y="5340096"/>
            <a:ext cx="73152" cy="268224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09600" y="5279136"/>
            <a:ext cx="1109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Linear interpolation is least smooth — cannot capture the nonlinear strain-hardening behavior.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" y="5742432"/>
            <a:ext cx="73152" cy="268224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09600" y="5681472"/>
            <a:ext cx="1109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Cubic Spline gives the most physically realistic result (continuous curvature, no oscillation).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720" y="6144768"/>
            <a:ext cx="73152" cy="268224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09600" y="6083808"/>
            <a:ext cx="1109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chemeClr val="bg1"/>
                </a:solidFill>
                <a:latin typeface="Calibri"/>
              </a:rPr>
              <a:t>All methods reproduce the experimental data exactly at every given data point by construction.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2720"/>
            <a:ext cx="12192000" cy="3291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365760" y="6547105"/>
            <a:ext cx="1146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chemeClr val="bg1"/>
                </a:solidFill>
                <a:latin typeface="Calibri"/>
              </a:rPr>
              <a:t>Frais Asghar  |  CMS: 516900  |  ME-16A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473431-FCE0-7B96-26C0-BDF40EF49C54}"/>
              </a:ext>
            </a:extLst>
          </p:cNvPr>
          <p:cNvGrpSpPr/>
          <p:nvPr/>
        </p:nvGrpSpPr>
        <p:grpSpPr>
          <a:xfrm>
            <a:off x="438911" y="2487180"/>
            <a:ext cx="4572000" cy="422922"/>
            <a:chOff x="4389120" y="2389632"/>
            <a:chExt cx="7376160" cy="70713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76B2F9-3C67-885F-C0B4-43A982F8970B}"/>
                </a:ext>
              </a:extLst>
            </p:cNvPr>
            <p:cNvSpPr/>
            <p:nvPr/>
          </p:nvSpPr>
          <p:spPr>
            <a:xfrm>
              <a:off x="4389120" y="2389632"/>
              <a:ext cx="7376160" cy="70713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8B0C50F-54A3-4B81-353A-644179F61898}"/>
                </a:ext>
              </a:extLst>
            </p:cNvPr>
            <p:cNvSpPr/>
            <p:nvPr/>
          </p:nvSpPr>
          <p:spPr>
            <a:xfrm>
              <a:off x="4389120" y="2389632"/>
              <a:ext cx="73152" cy="707136"/>
            </a:xfrm>
            <a:prstGeom prst="rect">
              <a:avLst/>
            </a:prstGeom>
            <a:solidFill>
              <a:srgbClr val="E8A81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63296" y="2515724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Engineering Applications of Interpolation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A6901A-E882-0D91-77B7-008C97338A52}"/>
              </a:ext>
            </a:extLst>
          </p:cNvPr>
          <p:cNvGrpSpPr/>
          <p:nvPr/>
        </p:nvGrpSpPr>
        <p:grpSpPr>
          <a:xfrm>
            <a:off x="432816" y="1156001"/>
            <a:ext cx="4572000" cy="437991"/>
            <a:chOff x="4389120" y="2389632"/>
            <a:chExt cx="7376160" cy="70713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8F7D630-EF8A-7D4C-F587-FD8FBC75751A}"/>
                </a:ext>
              </a:extLst>
            </p:cNvPr>
            <p:cNvSpPr/>
            <p:nvPr/>
          </p:nvSpPr>
          <p:spPr>
            <a:xfrm>
              <a:off x="4389120" y="2389632"/>
              <a:ext cx="7376160" cy="70713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FA8B22-B430-2449-78E5-EE4556C520E6}"/>
                </a:ext>
              </a:extLst>
            </p:cNvPr>
            <p:cNvSpPr/>
            <p:nvPr/>
          </p:nvSpPr>
          <p:spPr>
            <a:xfrm>
              <a:off x="4389120" y="2389632"/>
              <a:ext cx="73152" cy="707136"/>
            </a:xfrm>
            <a:prstGeom prst="rect">
              <a:avLst/>
            </a:prstGeom>
            <a:solidFill>
              <a:srgbClr val="E8A81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93775" y="1184569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A4F8A"/>
                </a:solidFill>
                <a:latin typeface="Calibri"/>
              </a:rPr>
              <a:t>Material Behavior of the Copper Alloy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72544" y="0"/>
            <a:ext cx="219456" cy="685800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43840"/>
            <a:ext cx="1109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40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072896"/>
            <a:ext cx="6096000" cy="60960"/>
          </a:xfrm>
          <a:prstGeom prst="rect">
            <a:avLst/>
          </a:prstGeom>
          <a:solidFill>
            <a:srgbClr val="E8A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341120"/>
            <a:ext cx="609600" cy="609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26464"/>
            <a:ext cx="6096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2133" b="1">
                <a:solidFill>
                  <a:srgbClr val="E8A81B"/>
                </a:solidFill>
                <a:latin typeface="Calibri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1120" y="1341120"/>
            <a:ext cx="10241280" cy="609600"/>
          </a:xfrm>
          <a:prstGeom prst="rect">
            <a:avLst/>
          </a:prstGeom>
          <a:solidFill>
            <a:srgbClr val="18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1" y="1438656"/>
            <a:ext cx="9997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600">
                <a:solidFill>
                  <a:srgbClr val="FFFFFF"/>
                </a:solidFill>
                <a:latin typeface="Calibri"/>
              </a:rPr>
              <a:t>All four methods accurately interpolate the given experimental data 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170176"/>
            <a:ext cx="609600" cy="609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2255520"/>
            <a:ext cx="6096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2133" b="1">
                <a:solidFill>
                  <a:srgbClr val="E8A81B"/>
                </a:solidFill>
                <a:latin typeface="Calibr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1120" y="2170176"/>
            <a:ext cx="10241280" cy="609600"/>
          </a:xfrm>
          <a:prstGeom prst="rect">
            <a:avLst/>
          </a:prstGeom>
          <a:solidFill>
            <a:srgbClr val="18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1" y="2267713"/>
            <a:ext cx="9997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600">
                <a:solidFill>
                  <a:srgbClr val="FFFFFF"/>
                </a:solidFill>
                <a:latin typeface="Calibri"/>
              </a:rPr>
              <a:t>Cubic Spline is the most suitable method — C² continuous, physically realistic, minimal oscillation.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999232"/>
            <a:ext cx="609600" cy="609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3084576"/>
            <a:ext cx="6096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2133" b="1">
                <a:solidFill>
                  <a:srgbClr val="E8A81B"/>
                </a:solidFill>
                <a:latin typeface="Calibri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1120" y="2999232"/>
            <a:ext cx="10241280" cy="609600"/>
          </a:xfrm>
          <a:prstGeom prst="rect">
            <a:avLst/>
          </a:prstGeom>
          <a:solidFill>
            <a:srgbClr val="18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1" y="3096769"/>
            <a:ext cx="9997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600">
                <a:solidFill>
                  <a:srgbClr val="FFFFFF"/>
                </a:solidFill>
                <a:latin typeface="Calibri"/>
              </a:rPr>
              <a:t>Lagrange &amp; Newton produce identical results, confirming both implementations are correct.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828288"/>
            <a:ext cx="609600" cy="609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3913632"/>
            <a:ext cx="6096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2133" b="1">
                <a:solidFill>
                  <a:srgbClr val="E8A81B"/>
                </a:solidFill>
                <a:latin typeface="Calibr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1120" y="3828288"/>
            <a:ext cx="10241280" cy="609600"/>
          </a:xfrm>
          <a:prstGeom prst="rect">
            <a:avLst/>
          </a:prstGeom>
          <a:solidFill>
            <a:srgbClr val="18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63041" y="3925824"/>
            <a:ext cx="9997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600">
                <a:solidFill>
                  <a:srgbClr val="FFFFFF"/>
                </a:solidFill>
                <a:latin typeface="Calibri"/>
              </a:rPr>
              <a:t>Linear interpolation is simple and stable but misses smooth nonlinear material behavior.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657344"/>
            <a:ext cx="609600" cy="609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4742688"/>
            <a:ext cx="6096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2133" b="1">
                <a:solidFill>
                  <a:srgbClr val="E8A81B"/>
                </a:solidFill>
                <a:latin typeface="Calibri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41120" y="4657344"/>
            <a:ext cx="10241280" cy="609600"/>
          </a:xfrm>
          <a:prstGeom prst="rect">
            <a:avLst/>
          </a:prstGeom>
          <a:solidFill>
            <a:srgbClr val="18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1" y="4754881"/>
            <a:ext cx="9997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600">
                <a:solidFill>
                  <a:srgbClr val="FFFFFF"/>
                </a:solidFill>
                <a:latin typeface="Calibri"/>
              </a:rPr>
              <a:t>High-degree global polynomials (Lagrange/Newton) risk Runge's phenomenon with dense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547360"/>
            <a:ext cx="195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600" b="1">
                <a:solidFill>
                  <a:srgbClr val="E8A81B"/>
                </a:solidFill>
                <a:latin typeface="Calibri"/>
              </a:rPr>
              <a:t>Future Work: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1280" y="5547361"/>
            <a:ext cx="902208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sz="1467">
                <a:solidFill>
                  <a:srgbClr val="55657A"/>
                </a:solidFill>
                <a:latin typeface="Calibri"/>
              </a:rPr>
              <a:t>Higher-density data  •  Hermite splines (with derivative info)  •  2D surface interpolation for biaxial stress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6156960"/>
            <a:ext cx="10972800" cy="48768"/>
          </a:xfrm>
          <a:prstGeom prst="rect">
            <a:avLst/>
          </a:prstGeom>
          <a:solidFill>
            <a:srgbClr val="2A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9600" y="6278880"/>
            <a:ext cx="1097280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sz="1333">
                <a:solidFill>
                  <a:srgbClr val="55657A"/>
                </a:solidFill>
                <a:latin typeface="Calibri"/>
              </a:rPr>
              <a:t>Numerical Analysis Lab Project  |  Frais Asghar  |  CMS: 516900  |  ME-16A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61" y="0"/>
            <a:ext cx="12191695" cy="6858000"/>
          </a:xfrm>
          <a:prstGeom prst="rect">
            <a:avLst/>
          </a:prstGeom>
          <a:solidFill>
            <a:srgbClr val="16223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38659" y="685800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91055" y="886968"/>
            <a:ext cx="609584" cy="512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9075" y="1864910"/>
            <a:ext cx="3444020" cy="76597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3120"/>
              </a:spcAft>
            </a:pPr>
            <a:r>
              <a:rPr sz="6000" b="1" dirty="0">
                <a:solidFill>
                  <a:srgbClr val="FFFFFF"/>
                </a:solidFill>
                <a:latin typeface="Source Code Pro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93" y="3047999"/>
            <a:ext cx="3657508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28754" y="3543300"/>
            <a:ext cx="2543111" cy="1933574"/>
          </a:xfrm>
          <a:prstGeom prst="roundRect">
            <a:avLst>
              <a:gd name="adj" fmla="val 7881"/>
            </a:avLst>
          </a:prstGeom>
          <a:solidFill>
            <a:srgbClr val="37DCF2">
              <a:alpha val="10000"/>
            </a:srgbClr>
          </a:solidFill>
          <a:ln w="2476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C00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30" y="3626609"/>
            <a:ext cx="1057269" cy="7434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10889" y="4370019"/>
            <a:ext cx="137884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Project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1187" y="4794522"/>
            <a:ext cx="2018246" cy="382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37DCF2"/>
                </a:solidFill>
                <a:latin typeface="Roboto Flex"/>
              </a:rPr>
              <a:t>Frais Asghar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9054" y="3543300"/>
            <a:ext cx="2543111" cy="1933574"/>
          </a:xfrm>
          <a:prstGeom prst="roundRect">
            <a:avLst>
              <a:gd name="adj" fmla="val 7881"/>
            </a:avLst>
          </a:prstGeom>
          <a:solidFill>
            <a:srgbClr val="37DCF2">
              <a:alpha val="10000"/>
            </a:srgbClr>
          </a:solidFill>
          <a:ln w="2476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4232" y="3740507"/>
            <a:ext cx="773703" cy="5923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52269" y="4411158"/>
            <a:ext cx="214186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Engineering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568" y="4809940"/>
            <a:ext cx="2189570" cy="3801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37DCF2"/>
                </a:solidFill>
                <a:latin typeface="Roboto Flex"/>
              </a:rPr>
              <a:t>MATLAB Project</a:t>
            </a:r>
            <a:endParaRPr sz="2000" b="1" dirty="0">
              <a:solidFill>
                <a:srgbClr val="37DCF2"/>
              </a:solidFill>
              <a:latin typeface="Roboto Flex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19829" y="3543300"/>
            <a:ext cx="2543111" cy="1933574"/>
          </a:xfrm>
          <a:prstGeom prst="roundRect">
            <a:avLst>
              <a:gd name="adj" fmla="val 7881"/>
            </a:avLst>
          </a:prstGeom>
          <a:solidFill>
            <a:srgbClr val="37DCF2">
              <a:alpha val="10000"/>
            </a:srgbClr>
          </a:solidFill>
          <a:ln w="2476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9175" y="3838277"/>
            <a:ext cx="624415" cy="5317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35935" y="4452890"/>
            <a:ext cx="134517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Project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8422" y="4826825"/>
            <a:ext cx="2085922" cy="3801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DCF2"/>
                </a:solidFill>
                <a:latin typeface="Roboto Flex"/>
              </a:rPr>
              <a:t>April 2026</a:t>
            </a:r>
            <a:endParaRPr sz="2400" b="1" dirty="0">
              <a:solidFill>
                <a:srgbClr val="37DCF2"/>
              </a:solidFill>
              <a:latin typeface="Roboto Flex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9014" y="5867399"/>
            <a:ext cx="332414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A0AEC0"/>
                </a:solidFill>
                <a:latin typeface="Roboto Flex"/>
              </a:rP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1923</Words>
  <Application>Microsoft Office PowerPoint</Application>
  <PresentationFormat>Widescreen</PresentationFormat>
  <Paragraphs>351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Amasis MT Pro Medium</vt:lpstr>
      <vt:lpstr>Arial</vt:lpstr>
      <vt:lpstr>Calibri</vt:lpstr>
      <vt:lpstr>Cambria Math</vt:lpstr>
      <vt:lpstr>Courier New</vt:lpstr>
      <vt:lpstr>Roboto Flex</vt:lpstr>
      <vt:lpstr>Source Code Pro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Frais Asghar</cp:lastModifiedBy>
  <cp:revision>27</cp:revision>
  <dcterms:created xsi:type="dcterms:W3CDTF">2013-01-27T09:14:16Z</dcterms:created>
  <dcterms:modified xsi:type="dcterms:W3CDTF">2026-04-28T22:03:38Z</dcterms:modified>
  <cp:category/>
</cp:coreProperties>
</file>